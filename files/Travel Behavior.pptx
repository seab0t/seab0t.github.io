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GVQG3S1IJHgsFVmhOzIuxZa8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5AF62A-7DD5-427D-B72E-0F05FDCDCA01}">
  <a:tblStyle styleId="{8C5AF62A-7DD5-427D-B72E-0F05FDCDCA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2666E6-9CB6-4D2D-9FC9-1F107205973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8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Weilai" userId="abf4fbcd-0922-4d93-bf49-395dc26e5547" providerId="ADAL" clId="{8C5AB1D2-6C76-4F78-9EA5-B374212B2BDD}"/>
    <pc:docChg chg="custSel delSld modSld">
      <pc:chgData name="XuWeilai" userId="abf4fbcd-0922-4d93-bf49-395dc26e5547" providerId="ADAL" clId="{8C5AB1D2-6C76-4F78-9EA5-B374212B2BDD}" dt="2026-06-23T13:16:54.202" v="72" actId="47"/>
      <pc:docMkLst>
        <pc:docMk/>
      </pc:docMkLst>
      <pc:sldChg chg="del">
        <pc:chgData name="XuWeilai" userId="abf4fbcd-0922-4d93-bf49-395dc26e5547" providerId="ADAL" clId="{8C5AB1D2-6C76-4F78-9EA5-B374212B2BDD}" dt="2026-06-23T13:10:29.120" v="0" actId="47"/>
        <pc:sldMkLst>
          <pc:docMk/>
          <pc:sldMk cId="0" sldId="256"/>
        </pc:sldMkLst>
      </pc:sldChg>
      <pc:sldChg chg="del">
        <pc:chgData name="XuWeilai" userId="abf4fbcd-0922-4d93-bf49-395dc26e5547" providerId="ADAL" clId="{8C5AB1D2-6C76-4F78-9EA5-B374212B2BDD}" dt="2026-06-23T13:10:33.449" v="1" actId="47"/>
        <pc:sldMkLst>
          <pc:docMk/>
          <pc:sldMk cId="0" sldId="257"/>
        </pc:sldMkLst>
      </pc:sldChg>
      <pc:sldChg chg="del">
        <pc:chgData name="XuWeilai" userId="abf4fbcd-0922-4d93-bf49-395dc26e5547" providerId="ADAL" clId="{8C5AB1D2-6C76-4F78-9EA5-B374212B2BDD}" dt="2026-06-23T13:10:36.151" v="2" actId="47"/>
        <pc:sldMkLst>
          <pc:docMk/>
          <pc:sldMk cId="0" sldId="258"/>
        </pc:sldMkLst>
      </pc:sldChg>
      <pc:sldChg chg="del">
        <pc:chgData name="XuWeilai" userId="abf4fbcd-0922-4d93-bf49-395dc26e5547" providerId="ADAL" clId="{8C5AB1D2-6C76-4F78-9EA5-B374212B2BDD}" dt="2026-06-23T13:10:38.720" v="3" actId="47"/>
        <pc:sldMkLst>
          <pc:docMk/>
          <pc:sldMk cId="0" sldId="260"/>
        </pc:sldMkLst>
      </pc:sldChg>
      <pc:sldChg chg="del">
        <pc:chgData name="XuWeilai" userId="abf4fbcd-0922-4d93-bf49-395dc26e5547" providerId="ADAL" clId="{8C5AB1D2-6C76-4F78-9EA5-B374212B2BDD}" dt="2026-06-23T13:10:39.745" v="4" actId="47"/>
        <pc:sldMkLst>
          <pc:docMk/>
          <pc:sldMk cId="0" sldId="261"/>
        </pc:sldMkLst>
      </pc:sldChg>
      <pc:sldChg chg="modSp mod">
        <pc:chgData name="XuWeilai" userId="abf4fbcd-0922-4d93-bf49-395dc26e5547" providerId="ADAL" clId="{8C5AB1D2-6C76-4F78-9EA5-B374212B2BDD}" dt="2026-06-23T13:12:20.998" v="33" actId="27636"/>
        <pc:sldMkLst>
          <pc:docMk/>
          <pc:sldMk cId="0" sldId="262"/>
        </pc:sldMkLst>
        <pc:spChg chg="mod">
          <ac:chgData name="XuWeilai" userId="abf4fbcd-0922-4d93-bf49-395dc26e5547" providerId="ADAL" clId="{8C5AB1D2-6C76-4F78-9EA5-B374212B2BDD}" dt="2026-06-23T13:12:20.998" v="33" actId="27636"/>
          <ac:spMkLst>
            <pc:docMk/>
            <pc:sldMk cId="0" sldId="262"/>
            <ac:spMk id="151" creationId="{00000000-0000-0000-0000-000000000000}"/>
          </ac:spMkLst>
        </pc:spChg>
      </pc:sldChg>
      <pc:sldChg chg="delSp modSp del mod">
        <pc:chgData name="XuWeilai" userId="abf4fbcd-0922-4d93-bf49-395dc26e5547" providerId="ADAL" clId="{8C5AB1D2-6C76-4F78-9EA5-B374212B2BDD}" dt="2026-06-23T13:12:24.566" v="34" actId="47"/>
        <pc:sldMkLst>
          <pc:docMk/>
          <pc:sldMk cId="0" sldId="263"/>
        </pc:sldMkLst>
        <pc:spChg chg="mod">
          <ac:chgData name="XuWeilai" userId="abf4fbcd-0922-4d93-bf49-395dc26e5547" providerId="ADAL" clId="{8C5AB1D2-6C76-4F78-9EA5-B374212B2BDD}" dt="2026-06-23T13:10:50.402" v="7" actId="27636"/>
          <ac:spMkLst>
            <pc:docMk/>
            <pc:sldMk cId="0" sldId="263"/>
            <ac:spMk id="161" creationId="{00000000-0000-0000-0000-000000000000}"/>
          </ac:spMkLst>
        </pc:spChg>
        <pc:picChg chg="del">
          <ac:chgData name="XuWeilai" userId="abf4fbcd-0922-4d93-bf49-395dc26e5547" providerId="ADAL" clId="{8C5AB1D2-6C76-4F78-9EA5-B374212B2BDD}" dt="2026-06-23T13:10:47.668" v="5" actId="478"/>
          <ac:picMkLst>
            <pc:docMk/>
            <pc:sldMk cId="0" sldId="263"/>
            <ac:picMk id="163" creationId="{00000000-0000-0000-0000-000000000000}"/>
          </ac:picMkLst>
        </pc:picChg>
      </pc:sldChg>
      <pc:sldChg chg="addSp delSp modSp mod">
        <pc:chgData name="XuWeilai" userId="abf4fbcd-0922-4d93-bf49-395dc26e5547" providerId="ADAL" clId="{8C5AB1D2-6C76-4F78-9EA5-B374212B2BDD}" dt="2026-06-23T13:13:46.498" v="58" actId="20577"/>
        <pc:sldMkLst>
          <pc:docMk/>
          <pc:sldMk cId="0" sldId="264"/>
        </pc:sldMkLst>
        <pc:spChg chg="mod">
          <ac:chgData name="XuWeilai" userId="abf4fbcd-0922-4d93-bf49-395dc26e5547" providerId="ADAL" clId="{8C5AB1D2-6C76-4F78-9EA5-B374212B2BDD}" dt="2026-06-23T13:13:46.498" v="58" actId="20577"/>
          <ac:spMkLst>
            <pc:docMk/>
            <pc:sldMk cId="0" sldId="264"/>
            <ac:spMk id="169" creationId="{00000000-0000-0000-0000-000000000000}"/>
          </ac:spMkLst>
        </pc:spChg>
        <pc:graphicFrameChg chg="del">
          <ac:chgData name="XuWeilai" userId="abf4fbcd-0922-4d93-bf49-395dc26e5547" providerId="ADAL" clId="{8C5AB1D2-6C76-4F78-9EA5-B374212B2BDD}" dt="2026-06-23T13:13:33.295" v="48" actId="478"/>
          <ac:graphicFrameMkLst>
            <pc:docMk/>
            <pc:sldMk cId="0" sldId="264"/>
            <ac:graphicFrameMk id="171" creationId="{00000000-0000-0000-0000-000000000000}"/>
          </ac:graphicFrameMkLst>
        </pc:graphicFrameChg>
        <pc:graphicFrameChg chg="del">
          <ac:chgData name="XuWeilai" userId="abf4fbcd-0922-4d93-bf49-395dc26e5547" providerId="ADAL" clId="{8C5AB1D2-6C76-4F78-9EA5-B374212B2BDD}" dt="2026-06-23T13:13:35.800" v="49" actId="478"/>
          <ac:graphicFrameMkLst>
            <pc:docMk/>
            <pc:sldMk cId="0" sldId="264"/>
            <ac:graphicFrameMk id="172" creationId="{00000000-0000-0000-0000-000000000000}"/>
          </ac:graphicFrameMkLst>
        </pc:graphicFrameChg>
        <pc:picChg chg="add mod">
          <ac:chgData name="XuWeilai" userId="abf4fbcd-0922-4d93-bf49-395dc26e5547" providerId="ADAL" clId="{8C5AB1D2-6C76-4F78-9EA5-B374212B2BDD}" dt="2026-06-23T13:13:39.203" v="51" actId="1076"/>
          <ac:picMkLst>
            <pc:docMk/>
            <pc:sldMk cId="0" sldId="264"/>
            <ac:picMk id="3" creationId="{805905BE-AFA0-2B6F-541C-E3C77AB033E5}"/>
          </ac:picMkLst>
        </pc:picChg>
      </pc:sldChg>
      <pc:sldChg chg="modSp mod">
        <pc:chgData name="XuWeilai" userId="abf4fbcd-0922-4d93-bf49-395dc26e5547" providerId="ADAL" clId="{8C5AB1D2-6C76-4F78-9EA5-B374212B2BDD}" dt="2026-06-23T13:14:16.981" v="59" actId="14100"/>
        <pc:sldMkLst>
          <pc:docMk/>
          <pc:sldMk cId="0" sldId="267"/>
        </pc:sldMkLst>
        <pc:spChg chg="mod">
          <ac:chgData name="XuWeilai" userId="abf4fbcd-0922-4d93-bf49-395dc26e5547" providerId="ADAL" clId="{8C5AB1D2-6C76-4F78-9EA5-B374212B2BDD}" dt="2026-06-23T13:14:16.981" v="59" actId="14100"/>
          <ac:spMkLst>
            <pc:docMk/>
            <pc:sldMk cId="0" sldId="267"/>
            <ac:spMk id="202" creationId="{00000000-0000-0000-0000-000000000000}"/>
          </ac:spMkLst>
        </pc:spChg>
      </pc:sldChg>
      <pc:sldChg chg="modSp mod">
        <pc:chgData name="XuWeilai" userId="abf4fbcd-0922-4d93-bf49-395dc26e5547" providerId="ADAL" clId="{8C5AB1D2-6C76-4F78-9EA5-B374212B2BDD}" dt="2026-06-23T13:16:16.029" v="71" actId="20577"/>
        <pc:sldMkLst>
          <pc:docMk/>
          <pc:sldMk cId="0" sldId="269"/>
        </pc:sldMkLst>
        <pc:spChg chg="mod">
          <ac:chgData name="XuWeilai" userId="abf4fbcd-0922-4d93-bf49-395dc26e5547" providerId="ADAL" clId="{8C5AB1D2-6C76-4F78-9EA5-B374212B2BDD}" dt="2026-06-23T13:16:16.029" v="71" actId="20577"/>
          <ac:spMkLst>
            <pc:docMk/>
            <pc:sldMk cId="0" sldId="269"/>
            <ac:spMk id="222" creationId="{00000000-0000-0000-0000-000000000000}"/>
          </ac:spMkLst>
        </pc:spChg>
      </pc:sldChg>
      <pc:sldChg chg="del">
        <pc:chgData name="XuWeilai" userId="abf4fbcd-0922-4d93-bf49-395dc26e5547" providerId="ADAL" clId="{8C5AB1D2-6C76-4F78-9EA5-B374212B2BDD}" dt="2026-06-23T13:16:54.202" v="72" actId="47"/>
        <pc:sldMkLst>
          <pc:docMk/>
          <pc:sldMk cId="0" sldId="272"/>
        </pc:sldMkLst>
      </pc:sldChg>
      <pc:sldMasterChg chg="delSldLayout">
        <pc:chgData name="XuWeilai" userId="abf4fbcd-0922-4d93-bf49-395dc26e5547" providerId="ADAL" clId="{8C5AB1D2-6C76-4F78-9EA5-B374212B2BDD}" dt="2026-06-23T13:16:54.202" v="72" actId="47"/>
        <pc:sldMasterMkLst>
          <pc:docMk/>
          <pc:sldMasterMk cId="0" sldId="2147483648"/>
        </pc:sldMasterMkLst>
        <pc:sldLayoutChg chg="del">
          <pc:chgData name="XuWeilai" userId="abf4fbcd-0922-4d93-bf49-395dc26e5547" providerId="ADAL" clId="{8C5AB1D2-6C76-4F78-9EA5-B374212B2BDD}" dt="2026-06-23T13:16:54.202" v="72" actId="4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4" descr="A map of a city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7452" r="9089" b="11735"/>
          <a:stretch/>
        </p:blipFill>
        <p:spPr>
          <a:xfrm>
            <a:off x="3523488" y="9154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7647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335140" y="1255014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Project Overview</a:t>
            </a:r>
            <a:endParaRPr sz="3600"/>
          </a:p>
        </p:txBody>
      </p:sp>
      <p:sp>
        <p:nvSpPr>
          <p:cNvPr id="122" name="Google Shape;122;p4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9525" cap="flat" cmpd="sng">
            <a:solidFill>
              <a:srgbClr val="D5D5D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body" idx="1"/>
          </p:nvPr>
        </p:nvSpPr>
        <p:spPr>
          <a:xfrm>
            <a:off x="372000" y="2727198"/>
            <a:ext cx="6302975" cy="335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Objective: Examine the influence of congestion pricing on peak-hour travel from NJ to NYC.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Approach: Use multinomial logit and mixed logit models for behavior analysis.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Impact: Provide insights into policy design and urban traffic management strategies.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Survey Design</a:t>
            </a:r>
            <a:endParaRPr sz="5400"/>
          </a:p>
        </p:txBody>
      </p:sp>
      <p:sp>
        <p:nvSpPr>
          <p:cNvPr id="150" name="Google Shape;150;p7"/>
          <p:cNvSpPr/>
          <p:nvPr/>
        </p:nvSpPr>
        <p:spPr>
          <a:xfrm>
            <a:off x="572493" y="1681544"/>
            <a:ext cx="10972800" cy="18288"/>
          </a:xfrm>
          <a:custGeom>
            <a:avLst/>
            <a:gdLst/>
            <a:ahLst/>
            <a:cxnLst/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w="44450" cap="rnd" cmpd="sng">
            <a:solidFill>
              <a:schemeClr val="accent2">
                <a:alpha val="7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572492" y="2261816"/>
            <a:ext cx="4869249" cy="41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Demographics</a:t>
            </a:r>
            <a:endParaRPr sz="2200" dirty="0"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Psychological</a:t>
            </a:r>
            <a:endParaRPr sz="2200" dirty="0"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Mode choice at different </a:t>
            </a:r>
            <a:endParaRPr sz="22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dirty="0"/>
              <a:t>congestion fee</a:t>
            </a:r>
            <a:endParaRPr sz="1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dirty="0"/>
              <a:t>Travel time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 dirty="0"/>
              <a:t>Travel time difference</a:t>
            </a:r>
            <a:endParaRPr sz="1800" dirty="0"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0" indent="0">
              <a:buSzPts val="2200"/>
              <a:buNone/>
            </a:pPr>
            <a:r>
              <a:rPr lang="en-US" sz="2200" dirty="0"/>
              <a:t>We got </a:t>
            </a:r>
            <a:r>
              <a:rPr lang="en-US" altLang="zh-CN" sz="2200" dirty="0"/>
              <a:t>153 respondents in Hudson, NJ </a:t>
            </a:r>
          </a:p>
          <a:p>
            <a:pPr marL="0" indent="0">
              <a:buSzPts val="2200"/>
              <a:buNone/>
            </a:pPr>
            <a:endParaRPr sz="2200" dirty="0"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</p:txBody>
      </p:sp>
      <p:sp>
        <p:nvSpPr>
          <p:cNvPr id="152" name="Google Shape;152;p7"/>
          <p:cNvSpPr/>
          <p:nvPr/>
        </p:nvSpPr>
        <p:spPr>
          <a:xfrm>
            <a:off x="6197461" y="1273450"/>
            <a:ext cx="5151784" cy="7951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7" descr="图片包含 图示&#10;&#10;已自动生成说明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4067" y="801426"/>
            <a:ext cx="6422560" cy="55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dirty="0"/>
              <a:t>Survey Data Description</a:t>
            </a:r>
            <a:endParaRPr sz="4800" dirty="0"/>
          </a:p>
        </p:txBody>
      </p:sp>
      <p:sp>
        <p:nvSpPr>
          <p:cNvPr id="170" name="Google Shape;170;p9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5905BE-AFA0-2B6F-541C-E3C77AB03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965" y="726214"/>
            <a:ext cx="6586099" cy="5405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Methodology</a:t>
            </a:r>
            <a:endParaRPr sz="5400"/>
          </a:p>
        </p:txBody>
      </p:sp>
      <p:sp>
        <p:nvSpPr>
          <p:cNvPr id="179" name="Google Shape;179;p10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Pooled Model</a:t>
            </a:r>
            <a:endParaRPr sz="22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/>
              <a:t>Multinomial Logit Model (MNL)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/>
              <a:t>Mixed Logit Model (MXL)</a:t>
            </a:r>
            <a:endParaRPr sz="22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Segmentation test for Commuters' Belief in Congestion fee Effectiveness (MNL &amp; MXL)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/>
              <a:t>Confident in Effectiveness</a:t>
            </a:r>
            <a:endParaRPr sz="22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/>
              <a:t>Skeptical in Effectiveness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838200" y="1865313"/>
            <a:ext cx="10424160" cy="18288"/>
          </a:xfrm>
          <a:custGeom>
            <a:avLst/>
            <a:gdLst/>
            <a:ahLst/>
            <a:cxnLst/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6640167" y="2218258"/>
            <a:ext cx="4190650" cy="168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MXL</a:t>
            </a:r>
            <a:endParaRPr/>
          </a:p>
          <a:p>
            <a:pPr marL="294894" marR="0" lvl="0" indent="-294894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𝑈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𝑛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𝜷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 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𝑖𝑛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𝜀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 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where 𝜀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i.i.d Gumbel , 𝜷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lang="en-US" sz="1892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(𝜷|θ).</a:t>
            </a:r>
            <a:endParaRPr sz="189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894" marR="0" lvl="0" indent="-294894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heterogeneity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064"/>
              <a:buFont typeface="Arial"/>
              <a:buNone/>
            </a:pPr>
            <a:endParaRPr sz="20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064"/>
              <a:buFont typeface="Arial"/>
              <a:buNone/>
            </a:pPr>
            <a:endParaRPr sz="20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064"/>
              <a:buFont typeface="Arial"/>
              <a:buNone/>
            </a:pPr>
            <a:endParaRPr sz="20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408"/>
              <a:buFont typeface="Arial"/>
              <a:buNone/>
            </a:pPr>
            <a:endParaRPr sz="2408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1478857" y="5221288"/>
            <a:ext cx="9059973" cy="11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2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Iterate over all Individual Specific Attribute Combinations:</a:t>
            </a:r>
            <a:endParaRPr sz="154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894" marR="0" lvl="0" indent="-294894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coefficient p value &lt; 0.1,  Maximize McFadden's R Square</a:t>
            </a:r>
            <a:endParaRPr/>
          </a:p>
          <a:p>
            <a:pPr marL="294894" marR="0" lvl="0" indent="-294894" algn="l" rtl="0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92"/>
              <a:buFont typeface="Arial"/>
              <a:buChar char="•"/>
            </a:pPr>
            <a:r>
              <a:rPr lang="en-US" sz="1892" b="0" i="0" u="none" strike="noStrike" cap="none">
                <a:solidFill>
                  <a:srgbClr val="FF0000"/>
                </a:solidFill>
                <a:highlight>
                  <a:srgbClr val="E5E5E5"/>
                </a:highlight>
                <a:latin typeface="Calibri"/>
                <a:ea typeface="Calibri"/>
                <a:cs typeface="Calibri"/>
                <a:sym typeface="Calibri"/>
              </a:rPr>
              <a:t>Mode Choice ~ Time + Cost |1+Income+CommuteMode| 0</a:t>
            </a:r>
            <a:endParaRPr sz="1800" b="0" i="0" u="none" strike="noStrike" cap="none">
              <a:solidFill>
                <a:srgbClr val="FF0000"/>
              </a:solidFill>
              <a:highlight>
                <a:srgbClr val="E5E5E5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1480285" y="3795473"/>
            <a:ext cx="9234287" cy="133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8"/>
              <a:buFont typeface="Arial"/>
              <a:buNone/>
            </a:pPr>
            <a:r>
              <a:rPr lang="en-US" sz="240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/>
          </a:p>
          <a:p>
            <a:pPr marL="294894" marR="0" lvl="0" indent="-294894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Specific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Travel Time, Travel Cost</a:t>
            </a:r>
            <a:endParaRPr sz="189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894" marR="0" lvl="0" indent="-294894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Specific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Age, Gender, Occupation(dummy), Income, Current commute mode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None/>
            </a:pPr>
            <a:endParaRPr sz="189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1477428" y="2168941"/>
            <a:ext cx="4190650" cy="168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MNL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894" marR="0" lvl="0" indent="-2948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𝑈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𝑖𝑛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𝜷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 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𝑖𝑛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𝜀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where 𝜀</a:t>
            </a:r>
            <a:r>
              <a:rPr lang="en-US" sz="1892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𝑖</a:t>
            </a:r>
            <a:r>
              <a:rPr lang="en-US" sz="1892" b="0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i.i.d Gumbel.</a:t>
            </a:r>
            <a:endParaRPr sz="189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894" marR="0" lvl="0" indent="-294894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92"/>
              <a:buFont typeface="Arial"/>
              <a:buChar char="•"/>
            </a:pPr>
            <a:r>
              <a:rPr lang="en-US" sz="18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Indifferent taste among population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2064"/>
              <a:buFont typeface="Arial"/>
              <a:buNone/>
            </a:pPr>
            <a:endParaRPr sz="20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064"/>
              <a:buFont typeface="Arial"/>
              <a:buNone/>
            </a:pPr>
            <a:endParaRPr sz="20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064"/>
              <a:buFont typeface="Arial"/>
              <a:buNone/>
            </a:pPr>
            <a:endParaRPr sz="20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2408"/>
              <a:buFont typeface="Arial"/>
              <a:buNone/>
            </a:pPr>
            <a:endParaRPr sz="2408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>
            <a:spLocks noGrp="1"/>
          </p:cNvSpPr>
          <p:nvPr>
            <p:ph type="title"/>
          </p:nvPr>
        </p:nvSpPr>
        <p:spPr>
          <a:xfrm>
            <a:off x="349526" y="3879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Pooled Model Result</a:t>
            </a:r>
            <a:endParaRPr sz="4800"/>
          </a:p>
        </p:txBody>
      </p:sp>
      <p:sp>
        <p:nvSpPr>
          <p:cNvPr id="198" name="Google Shape;198;p12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>
            <a:spLocks noGrp="1"/>
          </p:cNvSpPr>
          <p:nvPr>
            <p:ph type="body" idx="1"/>
          </p:nvPr>
        </p:nvSpPr>
        <p:spPr>
          <a:xfrm>
            <a:off x="2539375" y="1905321"/>
            <a:ext cx="2523000" cy="4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Table 1. Pooled model result</a:t>
            </a:r>
            <a:endParaRPr/>
          </a:p>
        </p:txBody>
      </p:sp>
      <p:graphicFrame>
        <p:nvGraphicFramePr>
          <p:cNvPr id="200" name="Google Shape;200;p12"/>
          <p:cNvGraphicFramePr/>
          <p:nvPr/>
        </p:nvGraphicFramePr>
        <p:xfrm>
          <a:off x="76957" y="2260661"/>
          <a:ext cx="7267375" cy="3541300"/>
        </p:xfrm>
        <a:graphic>
          <a:graphicData uri="http://schemas.openxmlformats.org/drawingml/2006/table">
            <a:tbl>
              <a:tblPr firstRow="1" firstCol="1" bandRow="1">
                <a:noFill/>
                <a:tableStyleId>{312666E6-9CB6-4D2D-9FC9-1F1072059734}</a:tableStyleId>
              </a:tblPr>
              <a:tblGrid>
                <a:gridCol w="27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0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Pooled 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MNL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MXL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Intercept: Auto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0.642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0.272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Household Income ($):Auto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0.098*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0.208*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Usual Commute Mode: Auto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-1.936***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-3.855***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Travel Time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0.043***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0.150***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Travel Cost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-0.087***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-0.316***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sd.Time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0.163***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sd.Cost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0.129***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Log-Likelihood 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-463.23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-343.97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McFadden R^2 (LL_C)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0.18404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0.39412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McFadden R^2 (LL_0)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0.213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0.415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1" name="Google Shape;201;p12"/>
          <p:cNvSpPr txBox="1"/>
          <p:nvPr/>
        </p:nvSpPr>
        <p:spPr>
          <a:xfrm>
            <a:off x="7657272" y="2143124"/>
            <a:ext cx="4451902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Household Income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 → Automobile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 to maintain commute mode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Longer Travel Time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 → Automobile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Travel Cost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 → Public Transit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MXL: Better fit. Significant individual heterogeneity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347869" y="5955194"/>
            <a:ext cx="716455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MXL,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β</a:t>
            </a:r>
            <a:r>
              <a:rPr lang="en-US" sz="1600" baseline="-2500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160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∼</a:t>
            </a:r>
            <a:r>
              <a:rPr lang="en-US" sz="1600" i="1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(0.15,0.0266), 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</a:t>
            </a:r>
            <a:r>
              <a:rPr lang="en-US" sz="16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60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∼ </a:t>
            </a:r>
            <a:r>
              <a:rPr lang="en-US" sz="1600" i="1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dirty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(-0.316,0.0166)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Segmentation Test Result</a:t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3091845" y="2082963"/>
            <a:ext cx="2425145" cy="28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2. Segmentation test result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8490389" y="4501862"/>
            <a:ext cx="3061086" cy="19397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4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Likelihood Ratio Test</a:t>
            </a: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251459" marR="0" lvl="0" indent="-25145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Char char="•"/>
            </a:pP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Statistic = 182.1157</a:t>
            </a:r>
            <a:endParaRPr/>
          </a:p>
          <a:p>
            <a:pPr marL="251459" marR="0" lvl="0" indent="-25145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Char char="•"/>
            </a:pP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Dof = 7</a:t>
            </a:r>
            <a:endParaRPr/>
          </a:p>
          <a:p>
            <a:pPr marL="251459" marR="0" lvl="0" indent="-25145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Char char="•"/>
            </a:pP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value &lt; 0.01</a:t>
            </a:r>
            <a:endParaRPr/>
          </a:p>
          <a:p>
            <a:pPr marL="251459" marR="0" lvl="0" indent="-15087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None/>
            </a:pPr>
            <a:endParaRPr sz="15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Reasonable Segmentation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8281155" y="1742066"/>
            <a:ext cx="3479555" cy="349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1459" marR="0" lvl="0" indent="-1508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None/>
            </a:pPr>
            <a:endParaRPr sz="15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2336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459" marR="0" lvl="0" indent="-25145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Char char="•"/>
            </a:pP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Skeptical group:</a:t>
            </a:r>
            <a:endParaRPr sz="15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53796" marR="0" lvl="1" indent="-25146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Courier New"/>
              <a:buChar char="o"/>
            </a:pPr>
            <a:r>
              <a:rPr lang="en-US"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Income not significant</a:t>
            </a:r>
            <a:endParaRPr/>
          </a:p>
          <a:p>
            <a:pPr marL="653796" marR="0" lvl="1" indent="-25146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Courier New"/>
              <a:buChar char="o"/>
            </a:pPr>
            <a:r>
              <a:rPr lang="en-US"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sensitive to change in travel time and cost</a:t>
            </a:r>
            <a:endParaRPr/>
          </a:p>
          <a:p>
            <a:pPr marL="653796" marR="0" lvl="1" indent="-150876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Courier New"/>
              <a:buNone/>
            </a:pPr>
            <a:endParaRPr sz="1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459" marR="0" lvl="0" indent="-25145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Char char="•"/>
            </a:pPr>
            <a:r>
              <a:rPr lang="en-US" sz="158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Slightly better fit than pooled model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5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459" marR="0" lvl="0" indent="-15087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84"/>
              <a:buFont typeface="Arial"/>
              <a:buNone/>
            </a:pPr>
            <a:endParaRPr sz="158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13"/>
          <p:cNvGraphicFramePr/>
          <p:nvPr/>
        </p:nvGraphicFramePr>
        <p:xfrm>
          <a:off x="849758" y="2409537"/>
          <a:ext cx="7241500" cy="4382300"/>
        </p:xfrm>
        <a:graphic>
          <a:graphicData uri="http://schemas.openxmlformats.org/drawingml/2006/table">
            <a:tbl>
              <a:tblPr firstRow="1" firstCol="1" bandRow="1">
                <a:noFill/>
                <a:tableStyleId>{312666E6-9CB6-4D2D-9FC9-1F1072059734}</a:tableStyleId>
              </a:tblPr>
              <a:tblGrid>
                <a:gridCol w="16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5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More Belief in Effectiveness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Belief in Effectiveness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MNL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MXL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MNL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MXL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Intercept: CAR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2.074**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3.070**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0.612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4.719**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Household Income ($):CAR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0.261**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0.577**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Usual Commute Mode: CAR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-2.056***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-3.499***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-1.976***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-5.318***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Travel Time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0.049***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0.133***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0.067***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0.273***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98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Travel Cost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98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-0.054*</a:t>
                      </a:r>
                      <a:endParaRPr b="1">
                        <a:solidFill>
                          <a:srgbClr val="980000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98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-0.172**</a:t>
                      </a:r>
                      <a:endParaRPr b="1">
                        <a:solidFill>
                          <a:srgbClr val="980000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98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-0.143***</a:t>
                      </a:r>
                      <a:endParaRPr b="1">
                        <a:solidFill>
                          <a:srgbClr val="980000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98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-0.437***</a:t>
                      </a:r>
                      <a:endParaRPr b="1">
                        <a:solidFill>
                          <a:srgbClr val="980000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sd.Time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0.131***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0.191***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sd.Cost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0.095**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0.124**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Log-Likelihood 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-167.06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-130.45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-171.23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-122.46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McFadden R^2 (LL_C)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0.19552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0.37183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0.25135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0.46456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McFadden R^2 (LL_0)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0.716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0.778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0.709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0.792</a:t>
                      </a:r>
                      <a:endParaRPr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Sensitivity of Cost</a:t>
            </a:r>
            <a:endParaRPr sz="5400"/>
          </a:p>
        </p:txBody>
      </p:sp>
      <p:sp>
        <p:nvSpPr>
          <p:cNvPr id="221" name="Google Shape;221;p14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 txBox="1"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Elasticity of probability of choosing Automobile to Automobile Travel Cost for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	</a:t>
            </a:r>
            <a:r>
              <a:rPr lang="en-US" sz="2200" dirty="0" err="1"/>
              <a:t>e</a:t>
            </a:r>
            <a:r>
              <a:rPr lang="en-US" sz="2200" baseline="-25000" dirty="0" err="1"/>
              <a:t>Pn</a:t>
            </a:r>
            <a:r>
              <a:rPr lang="en-US" sz="2200" baseline="-25000" dirty="0"/>
              <a:t>(Auto)</a:t>
            </a:r>
            <a:r>
              <a:rPr lang="en-US" sz="2200" dirty="0"/>
              <a:t>,</a:t>
            </a:r>
            <a:r>
              <a:rPr lang="en-US" sz="2200" dirty="0" err="1"/>
              <a:t>x</a:t>
            </a:r>
            <a:r>
              <a:rPr lang="en-US" sz="2200" baseline="-25000" dirty="0" err="1"/>
              <a:t>Auto,Cost,n</a:t>
            </a:r>
            <a:r>
              <a:rPr lang="en-US" sz="2200" dirty="0"/>
              <a:t> = β</a:t>
            </a:r>
            <a:r>
              <a:rPr lang="en-US" sz="2200" baseline="-25000" dirty="0" err="1"/>
              <a:t>Auto,Cost</a:t>
            </a:r>
            <a:r>
              <a:rPr lang="en-US" sz="2200" dirty="0" err="1"/>
              <a:t>x</a:t>
            </a:r>
            <a:r>
              <a:rPr lang="en-US" sz="2200" baseline="-25000" dirty="0" err="1"/>
              <a:t>Auto,Cost,n</a:t>
            </a:r>
            <a:r>
              <a:rPr lang="en-US" sz="2200" dirty="0"/>
              <a:t>(1-P</a:t>
            </a:r>
            <a:r>
              <a:rPr lang="en-US" sz="2200" baseline="-25000" dirty="0"/>
              <a:t>n</a:t>
            </a:r>
            <a:r>
              <a:rPr lang="en-US" sz="2200" dirty="0"/>
              <a:t>(Auto))</a:t>
            </a:r>
            <a:endParaRPr dirty="0"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Confident in Effectiveness Group: Elasticity = -2.25. 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Congestion fee increasing 1% → loosing 2.25% probability of choosing Auto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Skeptical in Effectiveness Group: Elasticity = -5.11. </a:t>
            </a:r>
            <a:endParaRPr sz="22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 dirty="0"/>
              <a:t>Congestion fee increasing 1% → loosing 5.11% probability of choosing Auto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 dirty="0"/>
              <a:t>More sensitive to cost change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Next Steps</a:t>
            </a:r>
            <a:endParaRPr sz="5400"/>
          </a:p>
        </p:txBody>
      </p:sp>
      <p:sp>
        <p:nvSpPr>
          <p:cNvPr id="229" name="Google Shape;229;p15"/>
          <p:cNvSpPr/>
          <p:nvPr/>
        </p:nvSpPr>
        <p:spPr>
          <a:xfrm>
            <a:off x="640080" y="2586994"/>
            <a:ext cx="3474720" cy="18288"/>
          </a:xfrm>
          <a:custGeom>
            <a:avLst/>
            <a:gdLst/>
            <a:ahLst/>
            <a:cxnLst/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1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Predict the drop in NJ-NY commuting automobile trips under different congestion pricing schemes</a:t>
            </a:r>
            <a:endParaRPr/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pic>
        <p:nvPicPr>
          <p:cNvPr id="231" name="Google Shape;231;p15" descr="Yellow paper aeroplane flying the opposite way as many grey paper aeroplanes"/>
          <p:cNvPicPr preferRelativeResize="0"/>
          <p:nvPr/>
        </p:nvPicPr>
        <p:blipFill rotWithShape="1">
          <a:blip r:embed="rId3">
            <a:alphaModFix/>
          </a:blip>
          <a:srcRect l="5565" r="27482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Reference</a:t>
            </a:r>
            <a:endParaRPr sz="5400"/>
          </a:p>
        </p:txBody>
      </p:sp>
      <p:sp>
        <p:nvSpPr>
          <p:cNvPr id="238" name="Google Shape;238;p16"/>
          <p:cNvSpPr/>
          <p:nvPr/>
        </p:nvSpPr>
        <p:spPr>
          <a:xfrm>
            <a:off x="669036" y="1677373"/>
            <a:ext cx="10853928" cy="18288"/>
          </a:xfrm>
          <a:custGeom>
            <a:avLst/>
            <a:gdLst/>
            <a:ahLst/>
            <a:cxnLst/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[1] Regional Plan Association (RPA). (n.d.). Congestion Pricing in NYC. Accessed February 9, 2024, from https://rpa.org/work/reports/congestion-pricing-in-nyc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[2] HNTB. (n.d.). Fix NYC Report. Accessed February 9, 2024, from https://www.hntb.com/fix-nyc-report/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[3] He, B. Y., Zhou, J., Ma, Z., Chow, J. Y. J., &amp; Ozbay, K. (2020). Evaluation of city-scale built environment policies in New York City with an emerging-mobility-accessible synthetic population. Transportation Research Part A: Policy and Practice, 141, 444-467. https://doi.org/10.1016/j.tra.2020.10.006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[4] (2021). A validated multi-agent simulation test bed to evaluate congestion pricing policies on population segments by time-of-day in New York City. Transport Policy, 101, 145-161. https://doi.org/10.1016/j.tranpol.2020.12.011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[5] Cai, Y., Ong, G. P., &amp; Meng, Q. (2023). Understanding bike-sharing as a commute mode in Singapore: An agent-based simulation approach. Transportation Research Part D: Transport and Environment, 122, 103859. https://doi.org/10.1016/j.trd.2023.103859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[6] Cipriani, E., Mannini, L., Montemarani, B., Nigro, M., &amp; Petrelli, M. (2019). Congestion pricing policies: Design and assessment for the city of Rome, Italy. Transport Policy, 80, 127-135. https://doi.org/10.1016/j.tranpol.2018.10.004</a:t>
            </a:r>
            <a:endParaRPr/>
          </a:p>
          <a:p>
            <a:pPr marL="228600" lvl="0" indent="-120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Courier New</vt:lpstr>
      <vt:lpstr>Times New Roman</vt:lpstr>
      <vt:lpstr>Calibri</vt:lpstr>
      <vt:lpstr>Arial</vt:lpstr>
      <vt:lpstr>Office Theme</vt:lpstr>
      <vt:lpstr>Project Overview</vt:lpstr>
      <vt:lpstr>Survey Design</vt:lpstr>
      <vt:lpstr>Survey Data Description</vt:lpstr>
      <vt:lpstr>Methodology</vt:lpstr>
      <vt:lpstr>Model</vt:lpstr>
      <vt:lpstr>Pooled Model Result</vt:lpstr>
      <vt:lpstr>Segmentation Test Result</vt:lpstr>
      <vt:lpstr>Sensitivity of Cost</vt:lpstr>
      <vt:lpstr>Next Steps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Junxi Shen</dc:creator>
  <cp:lastModifiedBy>XuWeilai</cp:lastModifiedBy>
  <cp:revision>1</cp:revision>
  <dcterms:created xsi:type="dcterms:W3CDTF">2024-04-29T03:22:25Z</dcterms:created>
  <dcterms:modified xsi:type="dcterms:W3CDTF">2026-06-23T13:17:33Z</dcterms:modified>
</cp:coreProperties>
</file>